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59" r:id="rId3"/>
    <p:sldId id="266" r:id="rId4"/>
    <p:sldId id="284" r:id="rId5"/>
    <p:sldId id="280" r:id="rId6"/>
    <p:sldId id="260" r:id="rId7"/>
    <p:sldId id="261" r:id="rId8"/>
    <p:sldId id="263" r:id="rId9"/>
    <p:sldId id="262" r:id="rId10"/>
    <p:sldId id="265" r:id="rId11"/>
    <p:sldId id="283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0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0ED06-E66F-48FF-841A-2321DFC43373}" type="datetimeFigureOut"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338E0-C2FD-4729-A13A-38757732DAA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252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Inflation+Reduction+Act+%28IRA%29&amp;sca_esv=38623c8ca84aacad&amp;sxsrf=ANbL-n4C2HM-Klb3kHOHftL6LUm6vDHx0w%3A1775578704018&amp;ei=UC7Vaf4n6KWm1A_O-ub4DQ&amp;biw=1536&amp;bih=826&amp;ved=2ahUKEwjq-7mjktyTAxXZjIkEHVpoGqMQgK4QegQIARAB&amp;uact=5&amp;oq=inflation+reduction+act+nuclear+energy+price+floor&amp;gs_lp=Egxnd3Mtd2l6LXNlcnAiMmluZmxhdGlvbiByZWR1Y3Rpb24gYWN0IG51Y2xlYXIgZW5lcmd5IHByaWNlIGZsb29yMgUQIRigATIFECEYoAEyBRAhGKABSNV3UJkGWNx2cAV4AZABAJgBoQGgAeQbqgEEMy4yN7gBA8gBAPgBAZgCIqACoh3CAgUQABiABMICChAAGIAEGEMYigXCAgYQABgWGB7CAgsQABiABBiGAxiKBcICBRAAGO8FwgIFECEYqwLCAggQABiiBBiJBcICCxAAGIAEGJECGIoFwgIFECEYnwWYAwCIBgGSBwQ2LjI4oAfWuQGyBwQyLjI4uAeMHcIHCTAuMTIuMjEuMcgHf4AIAA&amp;sclient=gws-wiz-serp&amp;mstk=AUtExfAyZYT2f0rnbrqij0zUxnU70LlvBEWOr2Zy_bJd3ekFhn99X0gIvD57xcj9z8fcZz_PrSzdAj4S5rBtA56dmvY68_8GTBGjveOW3Lzsp85rLWdeKYg1WzdobRlvS3nFeD7zA_A0htEhhvY52hegW-HRW7pdTmfTDJTSErQms0pHrvPO0eepidUsM5_jC4vs3IxsPpjwuNm8M79LvZcffX6IYK9jj_CYPOFvhw5vzavc0K8VlvNxLiTUr8_brcjtTWkFRUxQ99EwGUYNrx8KiTyC&amp;csui=3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338E0-C2FD-4729-A13A-38757732DAA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99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20-30 seconds , go over Buy, timeline and, summary of thesis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338E0-C2FD-4729-A13A-38757732DAA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089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Market; The 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Inflation Reduction Act (IRA)</a:t>
            </a:r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(2022) provides a nuclear energy price floor through the Section 45U "Zero-Emission Nuclear Power Production Credit," supporting existing plants with a base subsidy of </a:t>
            </a:r>
          </a:p>
          <a:p>
            <a:r>
              <a:rPr 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(0.3 cents/kWh). This credit acts as a floor, helping generators stay profitable when wholesale power prices are low.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338E0-C2FD-4729-A13A-38757732DAA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967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</a:t>
            </a:r>
            <a:r>
              <a:rPr lang="en-US" err="1"/>
              <a:t>ev</a:t>
            </a:r>
            <a:r>
              <a:rPr lang="en-US"/>
              <a:t>/</a:t>
            </a:r>
            <a:r>
              <a:rPr lang="en-US" err="1"/>
              <a:t>ebitda</a:t>
            </a:r>
            <a:r>
              <a:rPr lang="en-US"/>
              <a:t> and why we chose </a:t>
            </a:r>
            <a:r>
              <a:rPr lang="en-US" err="1"/>
              <a:t>ebitda</a:t>
            </a:r>
            <a:r>
              <a:rPr lang="en-US"/>
              <a:t> and used it to get EV, don’t say how we get </a:t>
            </a:r>
            <a:r>
              <a:rPr lang="en-US" err="1"/>
              <a:t>ev</a:t>
            </a:r>
            <a:r>
              <a:rPr lang="en-US"/>
              <a:t> but say the implied return. 1 minute; why are </a:t>
            </a:r>
            <a:r>
              <a:rPr lang="en-US" err="1"/>
              <a:t>are</a:t>
            </a:r>
            <a:r>
              <a:rPr lang="en-US"/>
              <a:t> multiplies lower than current we are being conservative looking at the comparable companies, lower base and bull we are being conservative, bull is avg of the </a:t>
            </a:r>
            <a:r>
              <a:rPr lang="en-US" err="1"/>
              <a:t>teir</a:t>
            </a:r>
            <a:r>
              <a:rPr lang="en-US"/>
              <a:t> one companies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9338E0-C2FD-4729-A13A-38757732DA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459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1B534-3798-0223-FECB-26D5847E5C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E6A9A2-F31F-7230-9214-401CEEF411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52D78-FE4C-E09E-4E75-39D70291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109BF-8A6B-8622-9482-1AF2307C4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DD0C9-69A3-F8B2-0E17-7A99345F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551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90033-3C9E-6190-523A-31BA7EE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97F85-5B70-61AC-DB0B-6C5CDA125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76308-FCA6-B2A3-F2D8-C89BD2A54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E73FD-76E9-9033-F718-90172985B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FDDF35-17F7-8A3F-824A-DE29AD29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9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563B-74DF-7FDD-14B3-E4113F63C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83111-94CA-BFDF-DBE9-684939270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880DD-8B98-52B6-2244-E414A269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24684-F8FB-82B0-19A9-F5B61AAC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B695F-0F50-F25E-13DB-128D7BDE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64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3D2DB-73FA-3A0A-B0E8-6FEA00B2C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F1B78-D43B-F897-1BF3-2748D7928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3EADD-F1FA-4F2D-F338-43B230616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13DF6A-24EC-92A8-9239-EA6D2EDB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B237E-89A8-3D8B-28D8-A8FB3972B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24BF48-527C-7DEC-0FBD-FD4CE8F85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533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B253-EC1C-0BB5-EA67-5BA9FC9BD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74702-E95B-DFA7-8FF3-AFDC70BFD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6D3164-7F3E-E08A-0B70-08355BD63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A74C91-D280-5721-0EF6-8400E594F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15ECE5-8A81-3C3B-4D93-6437B8C6D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DBED8C-C28C-A2D3-2A22-6136A1C9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B7975F-7B77-0C63-6D63-60E64DD3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02A390-6FAD-3B1E-13B8-8CF6C3D00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85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D49EE-8A18-3297-15A5-B53336BD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2840C-8D2D-C648-ED47-92ED33BF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473EF4-9784-0474-5D6E-A289FFA3C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21FB5E-8F01-CBC9-BB29-812094DFD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0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49C74-9CC8-B6EB-DF56-705EC4EB8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9B54E-242D-F07B-98DF-48D5FCFE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FD065-DF30-D9EE-A2C5-E29475227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8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B15B1-4320-B7FC-5215-74AE3B93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0AB3B-22E2-8D70-27B2-4BBF4A785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F0D7C-F77A-6907-BB3F-32B4121BB1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20E80-E304-F174-0604-B4C8E9D3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D03CE-32AD-5F5D-1BD8-4B66C6487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27DCC-8A31-BE55-A6F5-7C923EE63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80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4D32-E6C2-F894-028A-9765F1824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5F5955-579A-E707-6D2C-5C2E78DF7C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2F5FDA-1F29-5B30-CDBE-B09962B8C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7023D-041E-B746-27FF-700C1AE9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D60EE-06F3-0256-5CFC-9A7AC172F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87093-85D7-C895-8FD5-E979E4C7D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852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BFE7-517D-2D5B-E1D0-224AF0BD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1E6320-28DF-BA6F-90C7-4342462FD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12B6B-6BF2-6EAE-BC43-DB232EFB3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D087D-5F07-3E20-EE36-89201A83D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F9A19-0D55-AEC8-35D0-D14BB016E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18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9C5EAE-E00E-0685-639B-488AEE0A2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B6080-6411-2CC3-91A0-C390F84903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5DAB-9B56-1029-0D1E-E7E5DCC91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06175-4D25-DDBE-9A79-4EA7803FC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7A1CC-22C0-7EE6-A9DF-7B0BE95EA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60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60B23A-00CC-2BDB-7CBE-FAC8729527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57E17-E952-9B19-CFF2-7F1B10F25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3ABE8-EDF5-A66B-DDA3-0987C309F2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5507C-70D6-488C-8DAB-BF2C5FBC332B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B4E3E-5F3F-31EB-19CF-5F85EDE25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9174E-4C3F-282E-7EE7-0C5C25109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36A33-7288-47B4-8945-AE82B7F47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452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7C60E-22DC-8B2D-E991-8E1BC8B6D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360" y="3791131"/>
            <a:ext cx="12057519" cy="2387600"/>
          </a:xfrm>
        </p:spPr>
        <p:txBody>
          <a:bodyPr>
            <a:normAutofit/>
          </a:bodyPr>
          <a:lstStyle/>
          <a:p>
            <a:r>
              <a:rPr lang="en-US"/>
              <a:t> Constellation Energy Corp</a:t>
            </a:r>
            <a:r>
              <a:rPr lang="en-US" sz="2000"/>
              <a:t>(Ticker: CEG)</a:t>
            </a:r>
            <a:br>
              <a:rPr lang="en-US"/>
            </a:br>
            <a:endParaRPr lang="en-US"/>
          </a:p>
        </p:txBody>
      </p:sp>
      <p:pic>
        <p:nvPicPr>
          <p:cNvPr id="4100" name="Picture 4" descr="constellation logo - Assistance League of the ChesapeakeAssistance League  of the Chesapeake">
            <a:extLst>
              <a:ext uri="{FF2B5EF4-FFF2-40B4-BE49-F238E27FC236}">
                <a16:creationId xmlns:a16="http://schemas.microsoft.com/office/drawing/2014/main" id="{99321F9C-029D-23B9-D9FA-D3EF20143F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354" y="418012"/>
            <a:ext cx="11163757" cy="3860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DA80E4-5932-AFB2-41C5-CF968F89C76D}"/>
              </a:ext>
            </a:extLst>
          </p:cNvPr>
          <p:cNvSpPr txBox="1"/>
          <p:nvPr/>
        </p:nvSpPr>
        <p:spPr>
          <a:xfrm>
            <a:off x="931817" y="5660570"/>
            <a:ext cx="640950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Karnvir Singh Rajasansi; Nolan Nikolic; Alejandro Brooks; Dylan Hein, Eghan Ryan </a:t>
            </a:r>
          </a:p>
        </p:txBody>
      </p:sp>
    </p:spTree>
    <p:extLst>
      <p:ext uri="{BB962C8B-B14F-4D97-AF65-F5344CB8AC3E}">
        <p14:creationId xmlns:p14="http://schemas.microsoft.com/office/powerpoint/2010/main" val="4015533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stellation Energy Solutions, LLC ...">
            <a:extLst>
              <a:ext uri="{FF2B5EF4-FFF2-40B4-BE49-F238E27FC236}">
                <a16:creationId xmlns:a16="http://schemas.microsoft.com/office/drawing/2014/main" id="{55E1DB2A-3F7C-E041-BDB1-FC061BB31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9"/>
          <a:stretch>
            <a:fillRect/>
          </a:stretch>
        </p:blipFill>
        <p:spPr bwMode="auto">
          <a:xfrm>
            <a:off x="9119534" y="0"/>
            <a:ext cx="3072466" cy="102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8429F8-3850-5AB7-2759-302B6AD9E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287" y="-305766"/>
            <a:ext cx="10515600" cy="1325563"/>
          </a:xfrm>
        </p:spPr>
        <p:txBody>
          <a:bodyPr/>
          <a:lstStyle/>
          <a:p>
            <a:r>
              <a:rPr lang="en-US"/>
              <a:t>Recommendation: BUY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9A2AC-9C79-F49E-B673-A483CD209B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363" y="1082327"/>
            <a:ext cx="5099221" cy="314655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Current Price: $275</a:t>
            </a:r>
          </a:p>
          <a:p>
            <a:r>
              <a:rPr lang="en-US" dirty="0"/>
              <a:t>Target Price: $372</a:t>
            </a:r>
          </a:p>
          <a:p>
            <a:r>
              <a:rPr lang="en-US" dirty="0"/>
              <a:t>Implied Return: 35%</a:t>
            </a:r>
          </a:p>
          <a:p>
            <a:r>
              <a:rPr lang="en-US" dirty="0"/>
              <a:t>Timeline: 12+ months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8" name="Picture 4" descr="Nuclear Generation | Constellation Energy">
            <a:extLst>
              <a:ext uri="{FF2B5EF4-FFF2-40B4-BE49-F238E27FC236}">
                <a16:creationId xmlns:a16="http://schemas.microsoft.com/office/drawing/2014/main" id="{1F21B99D-3FE6-1085-62E7-150918F50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5482736" y="1111945"/>
            <a:ext cx="5943386" cy="3135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FB3336-5852-9B85-5680-B31EE5986697}"/>
              </a:ext>
            </a:extLst>
          </p:cNvPr>
          <p:cNvCxnSpPr/>
          <p:nvPr/>
        </p:nvCxnSpPr>
        <p:spPr>
          <a:xfrm>
            <a:off x="-24848" y="819978"/>
            <a:ext cx="12208565" cy="828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EA2D18E-0450-FECE-B1C0-67C4667FE66C}"/>
              </a:ext>
            </a:extLst>
          </p:cNvPr>
          <p:cNvSpPr txBox="1"/>
          <p:nvPr/>
        </p:nvSpPr>
        <p:spPr>
          <a:xfrm>
            <a:off x="5116" y="4358968"/>
            <a:ext cx="1216631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Thesis 1: </a:t>
            </a:r>
            <a:r>
              <a:rPr lang="en-US">
                <a:ea typeface="+mn-lt"/>
                <a:cs typeface="+mn-lt"/>
              </a:rPr>
              <a:t>Constellation is the primary beneficiary of the AI Power Supercycle, positioned to capture the massive shift in U.S. electricity demand driven by AI.</a:t>
            </a:r>
          </a:p>
          <a:p>
            <a:endParaRPr lang="en-US" b="1"/>
          </a:p>
          <a:p>
            <a:r>
              <a:rPr lang="en-US" b="1"/>
              <a:t>Thesis 2: </a:t>
            </a:r>
            <a:r>
              <a:rPr lang="en-US">
                <a:ea typeface="+mn-lt"/>
                <a:cs typeface="+mn-lt"/>
              </a:rPr>
              <a:t>By providing co-located, grid-independent power, Constellation enables </a:t>
            </a:r>
            <a:r>
              <a:rPr lang="en-US" err="1">
                <a:ea typeface="+mn-lt"/>
                <a:cs typeface="+mn-lt"/>
              </a:rPr>
              <a:t>hyperscalers</a:t>
            </a:r>
            <a:r>
              <a:rPr lang="en-US">
                <a:ea typeface="+mn-lt"/>
                <a:cs typeface="+mn-lt"/>
              </a:rPr>
              <a:t> to bypass national infrastructure backlogs and achieve immediate operational readiness.</a:t>
            </a:r>
            <a:endParaRPr lang="en-US"/>
          </a:p>
          <a:p>
            <a:endParaRPr lang="en-US" b="1"/>
          </a:p>
          <a:p>
            <a:r>
              <a:rPr lang="en-US" b="1"/>
              <a:t>Thesis 3:</a:t>
            </a:r>
            <a:r>
              <a:rPr lang="en-US" b="1">
                <a:ea typeface="+mn-lt"/>
                <a:cs typeface="+mn-lt"/>
              </a:rPr>
              <a:t> </a:t>
            </a:r>
            <a:r>
              <a:rPr lang="en-US">
                <a:ea typeface="+mn-lt"/>
                <a:cs typeface="+mn-lt"/>
              </a:rPr>
              <a:t>Constellation leverages the nation’s largest clean energy fleet to provide the 24/7 reliability and operational flexibility essential for a carbon-free, AI-driven economy.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9952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6AA67-E9E9-D36E-3C59-ACC58E065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stellation Energy Solutions, LLC ...">
            <a:extLst>
              <a:ext uri="{FF2B5EF4-FFF2-40B4-BE49-F238E27FC236}">
                <a16:creationId xmlns:a16="http://schemas.microsoft.com/office/drawing/2014/main" id="{E38F1615-97F0-9AFB-F8CF-BFF91A228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9"/>
          <a:stretch>
            <a:fillRect/>
          </a:stretch>
        </p:blipFill>
        <p:spPr bwMode="auto">
          <a:xfrm>
            <a:off x="9119534" y="0"/>
            <a:ext cx="3072466" cy="102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F6CDC5-63A7-03BC-ABBD-92A8A2B4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875" y="-234950"/>
            <a:ext cx="10515600" cy="1325563"/>
          </a:xfrm>
        </p:spPr>
        <p:txBody>
          <a:bodyPr/>
          <a:lstStyle/>
          <a:p>
            <a:r>
              <a:rPr lang="en-US"/>
              <a:t>Industry Overview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CBD07B-0EDA-8200-E2E6-37BF7B56BB76}"/>
              </a:ext>
            </a:extLst>
          </p:cNvPr>
          <p:cNvSpPr/>
          <p:nvPr/>
        </p:nvSpPr>
        <p:spPr>
          <a:xfrm>
            <a:off x="1087164" y="1369081"/>
            <a:ext cx="4542220" cy="2419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latin typeface="Calibri"/>
              <a:ea typeface="Calibri"/>
              <a:cs typeface="Calibri"/>
            </a:endParaRPr>
          </a:p>
          <a:p>
            <a:pPr algn="ctr"/>
            <a:endParaRPr lang="en-US">
              <a:latin typeface="Calibri"/>
              <a:ea typeface="Calibri"/>
              <a:cs typeface="Calibri"/>
            </a:endParaRPr>
          </a:p>
          <a:p>
            <a:pPr algn="ctr"/>
            <a:r>
              <a:rPr lang="en-US">
                <a:latin typeface="Calibri"/>
                <a:ea typeface="Calibri"/>
                <a:cs typeface="Calibri"/>
              </a:rPr>
              <a:t>~$433B</a:t>
            </a:r>
            <a:endParaRPr lang="en-US"/>
          </a:p>
          <a:p>
            <a:pPr algn="ctr"/>
            <a:r>
              <a:rPr lang="en-US">
                <a:latin typeface="Calibri"/>
                <a:ea typeface="Calibri"/>
                <a:cs typeface="Calibri"/>
              </a:rPr>
              <a:t>US nuclear energy market (2025)</a:t>
            </a:r>
            <a:endParaRPr lang="en-US" sz="1200" b="1">
              <a:solidFill>
                <a:srgbClr val="001D35"/>
              </a:solidFill>
              <a:highlight>
                <a:srgbClr val="FFFFFF"/>
              </a:highlight>
              <a:latin typeface="Aptos" panose="02110004020202020204"/>
              <a:ea typeface="Calibri"/>
              <a:cs typeface="Calibri"/>
            </a:endParaRPr>
          </a:p>
          <a:p>
            <a:pPr algn="ctr"/>
            <a:r>
              <a:rPr lang="en-US">
                <a:ea typeface="+mn-lt"/>
                <a:cs typeface="+mn-lt"/>
              </a:rPr>
              <a:t>~160%</a:t>
            </a:r>
          </a:p>
          <a:p>
            <a:pPr algn="ctr"/>
            <a:r>
              <a:rPr lang="en-US">
                <a:solidFill>
                  <a:srgbClr val="FFFFFF"/>
                </a:solidFill>
                <a:ea typeface="+mn-lt"/>
                <a:cs typeface="+mn-lt"/>
              </a:rPr>
              <a:t>Projected data center power demand growth by 2023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1449A1-43FB-3276-19D6-3D967FB0A5F0}"/>
              </a:ext>
            </a:extLst>
          </p:cNvPr>
          <p:cNvSpPr/>
          <p:nvPr/>
        </p:nvSpPr>
        <p:spPr>
          <a:xfrm>
            <a:off x="1087163" y="4057977"/>
            <a:ext cx="4542220" cy="2419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Calibri"/>
              <a:buChar char="-"/>
            </a:pPr>
            <a:endParaRPr lang="en-US"/>
          </a:p>
          <a:p>
            <a:pPr marL="285750" indent="-285750" algn="ctr">
              <a:buFont typeface="Calibri"/>
              <a:buChar char="-"/>
            </a:pPr>
            <a:endParaRPr lang="en-US"/>
          </a:p>
          <a:p>
            <a:pPr marL="285750" indent="-285750" algn="ctr">
              <a:buFont typeface="Calibri"/>
              <a:buChar char="-"/>
            </a:pPr>
            <a:r>
              <a:rPr lang="en-US"/>
              <a:t>AI &amp; Data Center Boom</a:t>
            </a:r>
          </a:p>
          <a:p>
            <a:pPr marL="285750" indent="-285750" algn="ctr">
              <a:buFont typeface="Calibri"/>
              <a:buChar char="-"/>
            </a:pPr>
            <a:endParaRPr lang="en-US"/>
          </a:p>
          <a:p>
            <a:pPr marL="285750" indent="-285750" algn="ctr">
              <a:buFont typeface="Calibri"/>
              <a:buChar char="-"/>
            </a:pPr>
            <a:r>
              <a:rPr lang="en-US"/>
              <a:t>Decarbonization Mandates</a:t>
            </a:r>
          </a:p>
          <a:p>
            <a:pPr marL="285750" indent="-285750" algn="ctr">
              <a:buFont typeface="Calibri"/>
              <a:buChar char="-"/>
            </a:pPr>
            <a:endParaRPr lang="en-US"/>
          </a:p>
          <a:p>
            <a:pPr marL="285750" indent="-285750" algn="ctr">
              <a:buFont typeface="Calibri"/>
              <a:buChar char="-"/>
            </a:pPr>
            <a:r>
              <a:rPr lang="en-US"/>
              <a:t>Grid Reliability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9C8A774-341B-5C8C-DD62-097ADED800BF}"/>
              </a:ext>
            </a:extLst>
          </p:cNvPr>
          <p:cNvSpPr/>
          <p:nvPr/>
        </p:nvSpPr>
        <p:spPr>
          <a:xfrm>
            <a:off x="6324819" y="1369080"/>
            <a:ext cx="4542220" cy="24196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/>
              <a:t>-</a:t>
            </a:r>
            <a:r>
              <a:rPr lang="en-US">
                <a:ea typeface="+mn-lt"/>
                <a:cs typeface="+mn-lt"/>
              </a:rPr>
              <a:t>Nuclear subsidies from the Inflation Reduction Act</a:t>
            </a:r>
            <a:endParaRPr lang="en-US"/>
          </a:p>
          <a:p>
            <a:pPr algn="ctr"/>
            <a:endParaRPr lang="en-US">
              <a:ea typeface="+mn-lt"/>
              <a:cs typeface="+mn-lt"/>
            </a:endParaRPr>
          </a:p>
          <a:p>
            <a:pPr marL="285750" indent="-285750" algn="ctr">
              <a:buFont typeface="Calibri"/>
              <a:buChar char="-"/>
            </a:pPr>
            <a:r>
              <a:rPr lang="en-US">
                <a:ea typeface="+mn-lt"/>
                <a:cs typeface="+mn-lt"/>
              </a:rPr>
              <a:t>Carbon-free energy incentives</a:t>
            </a:r>
          </a:p>
          <a:p>
            <a:pPr marL="285750" indent="-285750" algn="ctr">
              <a:buFont typeface="Calibri"/>
              <a:buChar char="-"/>
            </a:pPr>
            <a:endParaRPr lang="en-US"/>
          </a:p>
          <a:p>
            <a:pPr marL="285750" indent="-285750" algn="ctr">
              <a:buFont typeface="Calibri"/>
              <a:buChar char="-"/>
            </a:pPr>
            <a:r>
              <a:rPr lang="en-US"/>
              <a:t>Tight power supply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15D38ED-72A9-CCA0-256A-0CBF124A2839}"/>
              </a:ext>
            </a:extLst>
          </p:cNvPr>
          <p:cNvSpPr/>
          <p:nvPr/>
        </p:nvSpPr>
        <p:spPr>
          <a:xfrm>
            <a:off x="1090448" y="1369739"/>
            <a:ext cx="4542220" cy="5787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Market Size and Growth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53C718-2613-6EA2-F2B9-2A025486A111}"/>
              </a:ext>
            </a:extLst>
          </p:cNvPr>
          <p:cNvSpPr/>
          <p:nvPr/>
        </p:nvSpPr>
        <p:spPr>
          <a:xfrm>
            <a:off x="1090447" y="4058635"/>
            <a:ext cx="4542220" cy="58748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Drivers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224B24-8C4E-C36A-129E-64BE999C5F77}"/>
              </a:ext>
            </a:extLst>
          </p:cNvPr>
          <p:cNvSpPr/>
          <p:nvPr/>
        </p:nvSpPr>
        <p:spPr>
          <a:xfrm>
            <a:off x="6328102" y="1369739"/>
            <a:ext cx="4542220" cy="57872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Regulatory Tailwinds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07D4984-33E9-62A2-3B85-842FC8BA2805}"/>
              </a:ext>
            </a:extLst>
          </p:cNvPr>
          <p:cNvCxnSpPr/>
          <p:nvPr/>
        </p:nvCxnSpPr>
        <p:spPr>
          <a:xfrm>
            <a:off x="-24848" y="819978"/>
            <a:ext cx="12208565" cy="828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graph showing the price of a nuclear power market&#10;&#10;AI-generated content may be incorrect.">
            <a:extLst>
              <a:ext uri="{FF2B5EF4-FFF2-40B4-BE49-F238E27FC236}">
                <a16:creationId xmlns:a16="http://schemas.microsoft.com/office/drawing/2014/main" id="{5E7D41A3-39EB-ABE3-E19A-E3AC456FB5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286" y="4056323"/>
            <a:ext cx="3429000" cy="2571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292100" dist="241300" dir="246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9794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5E021-0961-CAA5-D160-C06B5F1C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stellation Energy Solutions, LLC ...">
            <a:extLst>
              <a:ext uri="{FF2B5EF4-FFF2-40B4-BE49-F238E27FC236}">
                <a16:creationId xmlns:a16="http://schemas.microsoft.com/office/drawing/2014/main" id="{F720583A-A932-1934-0C32-C186F42C5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29"/>
          <a:stretch>
            <a:fillRect/>
          </a:stretch>
        </p:blipFill>
        <p:spPr bwMode="auto">
          <a:xfrm>
            <a:off x="9119534" y="0"/>
            <a:ext cx="3072466" cy="1022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00062B-13CF-9857-C119-E1A9B1E13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29" y="-88412"/>
            <a:ext cx="4663831" cy="680794"/>
          </a:xfrm>
        </p:spPr>
        <p:txBody>
          <a:bodyPr>
            <a:normAutofit/>
          </a:bodyPr>
          <a:lstStyle/>
          <a:p>
            <a:r>
              <a:rPr lang="en-US" sz="2000"/>
              <a:t>Business Overview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6034407-894B-7F8C-342E-155F286FFDE0}"/>
              </a:ext>
            </a:extLst>
          </p:cNvPr>
          <p:cNvCxnSpPr/>
          <p:nvPr/>
        </p:nvCxnSpPr>
        <p:spPr>
          <a:xfrm>
            <a:off x="-24848" y="819978"/>
            <a:ext cx="12208565" cy="828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ACACBD2D-5149-7430-244D-D02CD3BE0CCA}"/>
              </a:ext>
            </a:extLst>
          </p:cNvPr>
          <p:cNvSpPr/>
          <p:nvPr/>
        </p:nvSpPr>
        <p:spPr>
          <a:xfrm>
            <a:off x="3276599" y="1438274"/>
            <a:ext cx="2628899" cy="1628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$25.5B</a:t>
            </a:r>
          </a:p>
          <a:p>
            <a:pPr algn="ctr"/>
            <a:r>
              <a:rPr lang="en-US" sz="1200"/>
              <a:t>Total Revenue 2025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E3F776-C299-89A2-1F72-0EAF09DD9671}"/>
              </a:ext>
            </a:extLst>
          </p:cNvPr>
          <p:cNvSpPr/>
          <p:nvPr/>
        </p:nvSpPr>
        <p:spPr>
          <a:xfrm>
            <a:off x="9235830" y="1438274"/>
            <a:ext cx="2628899" cy="1628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21</a:t>
            </a:r>
          </a:p>
          <a:p>
            <a:pPr algn="ctr"/>
            <a:r>
              <a:rPr lang="en-US" sz="1200"/>
              <a:t>Nuclear Reactors Across 12 sites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35734B5-F41F-A744-31CE-015E7A961D9E}"/>
              </a:ext>
            </a:extLst>
          </p:cNvPr>
          <p:cNvSpPr/>
          <p:nvPr/>
        </p:nvSpPr>
        <p:spPr>
          <a:xfrm>
            <a:off x="6275752" y="1438273"/>
            <a:ext cx="2628899" cy="1628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80%</a:t>
            </a:r>
          </a:p>
          <a:p>
            <a:pPr algn="ctr"/>
            <a:r>
              <a:rPr lang="en-US" sz="1200"/>
              <a:t>Fortune 100 Energy Customers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84B899-2924-EF15-8D90-D3118E75A9C4}"/>
              </a:ext>
            </a:extLst>
          </p:cNvPr>
          <p:cNvSpPr/>
          <p:nvPr/>
        </p:nvSpPr>
        <p:spPr>
          <a:xfrm>
            <a:off x="267676" y="1438274"/>
            <a:ext cx="2628899" cy="1628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55 GW</a:t>
            </a:r>
          </a:p>
          <a:p>
            <a:pPr algn="ctr"/>
            <a:r>
              <a:rPr lang="en-US" sz="1200"/>
              <a:t>Total Generating Capacity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5DFAA-4187-8E12-5480-F363E3AB4593}"/>
              </a:ext>
            </a:extLst>
          </p:cNvPr>
          <p:cNvSpPr/>
          <p:nvPr/>
        </p:nvSpPr>
        <p:spPr>
          <a:xfrm>
            <a:off x="266700" y="1428750"/>
            <a:ext cx="2628899" cy="2667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DCD103-0536-7F1A-88D7-B0C229009CAD}"/>
              </a:ext>
            </a:extLst>
          </p:cNvPr>
          <p:cNvSpPr/>
          <p:nvPr/>
        </p:nvSpPr>
        <p:spPr>
          <a:xfrm>
            <a:off x="9234853" y="1438519"/>
            <a:ext cx="2628899" cy="2667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D240F-271C-85F9-9AC3-3F4C4F848409}"/>
              </a:ext>
            </a:extLst>
          </p:cNvPr>
          <p:cNvSpPr/>
          <p:nvPr/>
        </p:nvSpPr>
        <p:spPr>
          <a:xfrm>
            <a:off x="6274776" y="1438518"/>
            <a:ext cx="2628899" cy="2667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D751FE-1660-F670-1A03-B26ED743B323}"/>
              </a:ext>
            </a:extLst>
          </p:cNvPr>
          <p:cNvSpPr/>
          <p:nvPr/>
        </p:nvSpPr>
        <p:spPr>
          <a:xfrm>
            <a:off x="3275623" y="1428750"/>
            <a:ext cx="2628899" cy="266700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3C8C8DA-769F-660E-1284-FD290E5146E4}"/>
              </a:ext>
            </a:extLst>
          </p:cNvPr>
          <p:cNvSpPr txBox="1"/>
          <p:nvPr/>
        </p:nvSpPr>
        <p:spPr>
          <a:xfrm>
            <a:off x="270119" y="410307"/>
            <a:ext cx="54292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Constellation Energy | Nasdaq: CEG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D1A97-441A-9BAA-4E06-889241EAA856}"/>
              </a:ext>
            </a:extLst>
          </p:cNvPr>
          <p:cNvSpPr txBox="1"/>
          <p:nvPr/>
        </p:nvSpPr>
        <p:spPr>
          <a:xfrm>
            <a:off x="571499" y="943219"/>
            <a:ext cx="835440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/>
              <a:t>CEG is the largest private-sector power producer in the world and #1 US clean energy supplier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2132CAD-F03B-E534-E603-FA9297991A3B}"/>
              </a:ext>
            </a:extLst>
          </p:cNvPr>
          <p:cNvSpPr/>
          <p:nvPr/>
        </p:nvSpPr>
        <p:spPr>
          <a:xfrm>
            <a:off x="1449753" y="3431196"/>
            <a:ext cx="4240822" cy="3045313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,Sans-Serif"/>
              <a:buChar char="•"/>
            </a:pPr>
            <a:endParaRPr lang="en-US" sz="1900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endParaRPr lang="en-US" sz="1900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900">
                <a:solidFill>
                  <a:schemeClr val="bg1"/>
                </a:solidFill>
              </a:rPr>
              <a:t>Nuclear Generation</a:t>
            </a:r>
            <a:endParaRPr lang="en-US">
              <a:solidFill>
                <a:schemeClr val="bg1"/>
              </a:solidFill>
            </a:endParaRPr>
          </a:p>
          <a:p>
            <a:endParaRPr lang="en-US" sz="1900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900">
                <a:solidFill>
                  <a:schemeClr val="bg1"/>
                </a:solidFill>
              </a:rPr>
              <a:t>Natural Gas &amp; Renewables</a:t>
            </a:r>
          </a:p>
          <a:p>
            <a:pPr marL="285750" indent="-285750">
              <a:buFont typeface="Arial,Sans-Serif"/>
              <a:buChar char="•"/>
            </a:pPr>
            <a:endParaRPr lang="en-US" sz="1900">
              <a:solidFill>
                <a:schemeClr val="bg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900">
                <a:solidFill>
                  <a:schemeClr val="bg1"/>
                </a:solidFill>
              </a:rPr>
              <a:t>Clean Energy Solutions</a:t>
            </a:r>
          </a:p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1DA9F5-3930-CFE0-09AD-23269CDDD659}"/>
              </a:ext>
            </a:extLst>
          </p:cNvPr>
          <p:cNvSpPr/>
          <p:nvPr/>
        </p:nvSpPr>
        <p:spPr>
          <a:xfrm>
            <a:off x="6471137" y="3431196"/>
            <a:ext cx="4240822" cy="304531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 algn="ctr">
              <a:buFont typeface="Calibri"/>
              <a:buChar char="-"/>
            </a:pPr>
            <a:endParaRPr lang="en-US"/>
          </a:p>
          <a:p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chemeClr val="bg1"/>
                </a:solidFill>
              </a:rPr>
              <a:t>Three</a:t>
            </a:r>
            <a:r>
              <a:rPr lang="en-US"/>
              <a:t> Mile Island Restart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/>
              <a:t>Hyperscale PPA Pipeline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/>
              <a:t>Calpine Acquisition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buFont typeface="Arial,Sans-Serif"/>
              <a:buChar char="•"/>
            </a:pP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/>
              <a:t>$5B Share Buyback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627F87-A90B-64BB-1A61-649D521B748C}"/>
              </a:ext>
            </a:extLst>
          </p:cNvPr>
          <p:cNvSpPr/>
          <p:nvPr/>
        </p:nvSpPr>
        <p:spPr>
          <a:xfrm>
            <a:off x="1447555" y="3429000"/>
            <a:ext cx="63745" cy="3048487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8B8EE1-A4DD-1D87-E147-07D2AF55AD0B}"/>
              </a:ext>
            </a:extLst>
          </p:cNvPr>
          <p:cNvSpPr/>
          <p:nvPr/>
        </p:nvSpPr>
        <p:spPr>
          <a:xfrm>
            <a:off x="6468940" y="3429000"/>
            <a:ext cx="63745" cy="3048487"/>
          </a:xfrm>
          <a:prstGeom prst="rect">
            <a:avLst/>
          </a:prstGeom>
          <a:solidFill>
            <a:srgbClr val="ED7D3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47E617A-192E-8C54-0AF4-927B77BA0A31}"/>
              </a:ext>
            </a:extLst>
          </p:cNvPr>
          <p:cNvCxnSpPr/>
          <p:nvPr/>
        </p:nvCxnSpPr>
        <p:spPr>
          <a:xfrm>
            <a:off x="1447556" y="3900120"/>
            <a:ext cx="4219574" cy="952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50B5E1A-A290-0022-0B4F-540F102A304D}"/>
              </a:ext>
            </a:extLst>
          </p:cNvPr>
          <p:cNvCxnSpPr>
            <a:cxnSpLocks/>
          </p:cNvCxnSpPr>
          <p:nvPr/>
        </p:nvCxnSpPr>
        <p:spPr>
          <a:xfrm>
            <a:off x="6488479" y="3900119"/>
            <a:ext cx="4219574" cy="9525"/>
          </a:xfrm>
          <a:prstGeom prst="straightConnector1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3D8B0DF-0E59-1758-0CDB-6EDD9034F3AD}"/>
              </a:ext>
            </a:extLst>
          </p:cNvPr>
          <p:cNvSpPr/>
          <p:nvPr/>
        </p:nvSpPr>
        <p:spPr>
          <a:xfrm>
            <a:off x="1514475" y="3429000"/>
            <a:ext cx="417195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Business Segments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111EB1D-F3A8-5677-9DCC-820CB6642061}"/>
              </a:ext>
            </a:extLst>
          </p:cNvPr>
          <p:cNvSpPr/>
          <p:nvPr/>
        </p:nvSpPr>
        <p:spPr>
          <a:xfrm>
            <a:off x="6535859" y="3429000"/>
            <a:ext cx="417195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Strategic Highlights</a:t>
            </a:r>
          </a:p>
        </p:txBody>
      </p:sp>
    </p:spTree>
    <p:extLst>
      <p:ext uri="{BB962C8B-B14F-4D97-AF65-F5344CB8AC3E}">
        <p14:creationId xmlns:p14="http://schemas.microsoft.com/office/powerpoint/2010/main" val="217659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FA0075-145C-D409-C4BD-A51319952482}"/>
              </a:ext>
            </a:extLst>
          </p:cNvPr>
          <p:cNvSpPr/>
          <p:nvPr/>
        </p:nvSpPr>
        <p:spPr>
          <a:xfrm>
            <a:off x="9095448" y="1316803"/>
            <a:ext cx="3095712" cy="53772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5D82C-2E30-10AD-5CF8-F5F89AB5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28" y="-265496"/>
            <a:ext cx="10515600" cy="1325563"/>
          </a:xfrm>
        </p:spPr>
        <p:txBody>
          <a:bodyPr/>
          <a:lstStyle/>
          <a:p>
            <a:r>
              <a:rPr lang="en-US"/>
              <a:t>Annotated stock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B601C8-2F6A-49F7-3B6B-341628B7C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361" y="1488508"/>
            <a:ext cx="8974364" cy="5397499"/>
          </a:xfrm>
          <a:prstGeom prst="rect">
            <a:avLst/>
          </a:prstGeom>
        </p:spPr>
      </p:pic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DE503099-0C89-C195-A378-5F58810606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534" y="0"/>
            <a:ext cx="3072466" cy="106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134D82-F34E-21E6-1436-895BB1440952}"/>
              </a:ext>
            </a:extLst>
          </p:cNvPr>
          <p:cNvSpPr txBox="1"/>
          <p:nvPr/>
        </p:nvSpPr>
        <p:spPr>
          <a:xfrm>
            <a:off x="9108761" y="1926165"/>
            <a:ext cx="3088285" cy="38779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Sept 2023 - L</a:t>
            </a:r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icense extensions for Byron and Braidwood nuclear plants to operate until 2046-2047</a:t>
            </a:r>
            <a:endParaRPr lang="en-US" sz="1400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</a:rPr>
              <a:t>Sept 2024 –  20-year power purchase agreement with Microsoft </a:t>
            </a:r>
          </a:p>
          <a:p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</a:rPr>
              <a:t>January 2025 – CEG announces acquisition of Calpine.</a:t>
            </a:r>
            <a:endParaRPr lang="en-US">
              <a:solidFill>
                <a:schemeClr val="bg1"/>
              </a:solidFill>
            </a:endParaRPr>
          </a:p>
          <a:p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  <a:ea typeface="+mn-lt"/>
                <a:cs typeface="+mn-lt"/>
              </a:rPr>
              <a:t>March 2025-  U.S. Government reports on scraping power auctions </a:t>
            </a:r>
          </a:p>
          <a:p>
            <a:endParaRPr lang="en-US" sz="1400">
              <a:solidFill>
                <a:schemeClr val="bg1"/>
              </a:solidFill>
            </a:endParaRPr>
          </a:p>
          <a:p>
            <a:r>
              <a:rPr lang="en-US" sz="1400">
                <a:solidFill>
                  <a:schemeClr val="bg1"/>
                </a:solidFill>
              </a:rPr>
              <a:t>May 2025 -  Clean Energy Center fast-tracked for interconnection to the grid</a:t>
            </a:r>
            <a:endParaRPr lang="en-US">
              <a:solidFill>
                <a:schemeClr val="bg1"/>
              </a:solidFill>
            </a:endParaRPr>
          </a:p>
          <a:p>
            <a:endParaRPr lang="en-US"/>
          </a:p>
          <a:p>
            <a:endParaRPr lang="en-US"/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4359CD05-0552-5871-8B14-440822634FC0}"/>
              </a:ext>
            </a:extLst>
          </p:cNvPr>
          <p:cNvSpPr/>
          <p:nvPr/>
        </p:nvSpPr>
        <p:spPr>
          <a:xfrm rot="10800000">
            <a:off x="1937288" y="4455763"/>
            <a:ext cx="464948" cy="5424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F6901161-0803-770B-DEC3-B2D106787324}"/>
              </a:ext>
            </a:extLst>
          </p:cNvPr>
          <p:cNvSpPr/>
          <p:nvPr/>
        </p:nvSpPr>
        <p:spPr>
          <a:xfrm rot="10800000">
            <a:off x="4488050" y="3002796"/>
            <a:ext cx="464948" cy="5424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Up 7">
            <a:extLst>
              <a:ext uri="{FF2B5EF4-FFF2-40B4-BE49-F238E27FC236}">
                <a16:creationId xmlns:a16="http://schemas.microsoft.com/office/drawing/2014/main" id="{5CC25067-34F8-BDBD-882C-43EA33172480}"/>
              </a:ext>
            </a:extLst>
          </p:cNvPr>
          <p:cNvSpPr/>
          <p:nvPr/>
        </p:nvSpPr>
        <p:spPr>
          <a:xfrm rot="10800000">
            <a:off x="5252969" y="2248737"/>
            <a:ext cx="464948" cy="5424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Up 8">
            <a:extLst>
              <a:ext uri="{FF2B5EF4-FFF2-40B4-BE49-F238E27FC236}">
                <a16:creationId xmlns:a16="http://schemas.microsoft.com/office/drawing/2014/main" id="{64E27CED-D806-1BB1-652D-851CE8458CAC}"/>
              </a:ext>
            </a:extLst>
          </p:cNvPr>
          <p:cNvSpPr/>
          <p:nvPr/>
        </p:nvSpPr>
        <p:spPr>
          <a:xfrm rot="10800000">
            <a:off x="6186406" y="2247254"/>
            <a:ext cx="464948" cy="5424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2DA041-9A8C-7FCF-C4EE-35CD13EB6795}"/>
              </a:ext>
            </a:extLst>
          </p:cNvPr>
          <p:cNvSpPr/>
          <p:nvPr/>
        </p:nvSpPr>
        <p:spPr>
          <a:xfrm>
            <a:off x="9099612" y="1315717"/>
            <a:ext cx="3084774" cy="481875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57F6EE-9E73-3967-8F69-BF71D69FBE8A}"/>
              </a:ext>
            </a:extLst>
          </p:cNvPr>
          <p:cNvCxnSpPr/>
          <p:nvPr/>
        </p:nvCxnSpPr>
        <p:spPr>
          <a:xfrm>
            <a:off x="-24848" y="819978"/>
            <a:ext cx="12208565" cy="8282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rrow: Up 11">
            <a:extLst>
              <a:ext uri="{FF2B5EF4-FFF2-40B4-BE49-F238E27FC236}">
                <a16:creationId xmlns:a16="http://schemas.microsoft.com/office/drawing/2014/main" id="{446A605C-7796-17E9-4F13-01F9EAB0B897}"/>
              </a:ext>
            </a:extLst>
          </p:cNvPr>
          <p:cNvSpPr/>
          <p:nvPr/>
        </p:nvSpPr>
        <p:spPr>
          <a:xfrm rot="10800000">
            <a:off x="5723562" y="2128721"/>
            <a:ext cx="464948" cy="54244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64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60734-976C-A102-B127-980C3711B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AC1364A-3E3D-4F0D-8776-78AF3A270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E10E5B-4A65-F83B-DB66-15B808EC0890}"/>
              </a:ext>
            </a:extLst>
          </p:cNvPr>
          <p:cNvSpPr txBox="1"/>
          <p:nvPr/>
        </p:nvSpPr>
        <p:spPr>
          <a:xfrm>
            <a:off x="4797501" y="329184"/>
            <a:ext cx="6755626" cy="178308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>
                <a:latin typeface="+mj-lt"/>
                <a:ea typeface="+mj-ea"/>
                <a:cs typeface="+mj-cs"/>
              </a:rPr>
              <a:t>Capitalizing on the AI-Driven Power Supercycle</a:t>
            </a:r>
          </a:p>
        </p:txBody>
      </p:sp>
      <p:pic>
        <p:nvPicPr>
          <p:cNvPr id="2" name="Picture 1" descr="Free Data Center Glow Image - Data, Center, Technology | Download at  StockCake">
            <a:extLst>
              <a:ext uri="{FF2B5EF4-FFF2-40B4-BE49-F238E27FC236}">
                <a16:creationId xmlns:a16="http://schemas.microsoft.com/office/drawing/2014/main" id="{0610389E-DAAF-EA78-FBCC-99711676B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" y="0"/>
            <a:ext cx="3907536" cy="3907536"/>
          </a:xfrm>
          <a:prstGeom prst="rect">
            <a:avLst/>
          </a:prstGeom>
        </p:spPr>
      </p:pic>
      <p:sp>
        <p:nvSpPr>
          <p:cNvPr id="17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7494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322B8FF9-1A55-2487-FB39-923767E78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040" y="4508603"/>
            <a:ext cx="3995928" cy="1380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9CE161-0D9D-2D2A-F5B1-5686CAAC5387}"/>
              </a:ext>
            </a:extLst>
          </p:cNvPr>
          <p:cNvSpPr/>
          <p:nvPr/>
        </p:nvSpPr>
        <p:spPr>
          <a:xfrm>
            <a:off x="4797494" y="2706624"/>
            <a:ext cx="6755626" cy="348386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tx1"/>
                </a:solidFill>
                <a:ea typeface="+mn-lt"/>
                <a:cs typeface="+mn-lt"/>
              </a:rPr>
              <a:t>The Demand Surge:</a:t>
            </a:r>
            <a:r>
              <a:rPr lang="en-US" sz="1900">
                <a:solidFill>
                  <a:schemeClr val="tx1"/>
                </a:solidFill>
                <a:ea typeface="+mn-lt"/>
                <a:cs typeface="+mn-lt"/>
              </a:rPr>
              <a:t> Data center power consumption is on track to hit 10% of total U.S. electricity by 2030, fueled by the relentless scale of LLM training.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tx1"/>
                </a:solidFill>
                <a:ea typeface="+mn-lt"/>
                <a:cs typeface="+mn-lt"/>
              </a:rPr>
              <a:t>The Nuclear Solution:</a:t>
            </a:r>
            <a:r>
              <a:rPr lang="en-US" sz="1900">
                <a:solidFill>
                  <a:schemeClr val="tx1"/>
                </a:solidFill>
                <a:ea typeface="+mn-lt"/>
                <a:cs typeface="+mn-lt"/>
              </a:rPr>
              <a:t> Constellation's nuclear fleet offers the only 24/7 carbon-free energy source capable of matching the uptime requirements of hyperscale infrastructure.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900" b="1">
                <a:solidFill>
                  <a:schemeClr val="tx1"/>
                </a:solidFill>
                <a:ea typeface="+mn-lt"/>
                <a:cs typeface="+mn-lt"/>
              </a:rPr>
              <a:t>Premium Value Capture:</a:t>
            </a:r>
            <a:r>
              <a:rPr lang="en-US" sz="1900">
                <a:solidFill>
                  <a:schemeClr val="tx1"/>
                </a:solidFill>
                <a:ea typeface="+mn-lt"/>
                <a:cs typeface="+mn-lt"/>
              </a:rPr>
              <a:t> AI operators prioritize speed-to-market and reliability over base-load costs, creating a unique environment for premium power pricing.</a:t>
            </a:r>
            <a:endParaRPr lang="en-US">
              <a:solidFill>
                <a:schemeClr val="tx1"/>
              </a:solidFill>
            </a:endParaRPr>
          </a:p>
          <a:p>
            <a:endParaRPr 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30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9F01E-4223-90D0-7212-2AC2CB38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BE8C35-CF5F-31D1-BA76-AD16DA706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6" y="457201"/>
            <a:ext cx="5814240" cy="15568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/>
              <a:t>Bypassing the Grid via Grid-Independent Solutions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FCBC69-8035-C853-CCA0-E5C196EC06AF}"/>
              </a:ext>
            </a:extLst>
          </p:cNvPr>
          <p:cNvSpPr/>
          <p:nvPr/>
        </p:nvSpPr>
        <p:spPr>
          <a:xfrm>
            <a:off x="1136396" y="2277036"/>
            <a:ext cx="5814239" cy="346115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/>
                </a:solidFill>
                <a:ea typeface="+mn-lt"/>
                <a:cs typeface="+mn-lt"/>
              </a:rPr>
              <a:t>Zero Wait Times:</a:t>
            </a:r>
            <a:r>
              <a:rPr lang="en-US" sz="1700">
                <a:solidFill>
                  <a:schemeClr val="tx1"/>
                </a:solidFill>
                <a:ea typeface="+mn-lt"/>
                <a:cs typeface="+mn-lt"/>
              </a:rPr>
              <a:t> Co-location allows </a:t>
            </a:r>
            <a:r>
              <a:rPr lang="en-US" sz="1700" err="1">
                <a:solidFill>
                  <a:schemeClr val="tx1"/>
                </a:solidFill>
                <a:ea typeface="+mn-lt"/>
                <a:cs typeface="+mn-lt"/>
              </a:rPr>
              <a:t>hyperscalers</a:t>
            </a:r>
            <a:r>
              <a:rPr lang="en-US" sz="1700">
                <a:solidFill>
                  <a:schemeClr val="tx1"/>
                </a:solidFill>
                <a:ea typeface="+mn-lt"/>
                <a:cs typeface="+mn-lt"/>
              </a:rPr>
              <a:t> to escape the national grid backlog, turning decade-long delays into immediate operational readiness.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/>
                </a:solidFill>
                <a:ea typeface="+mn-lt"/>
                <a:cs typeface="+mn-lt"/>
              </a:rPr>
              <a:t>Optimized Delivery:</a:t>
            </a:r>
            <a:r>
              <a:rPr lang="en-US" sz="1700">
                <a:solidFill>
                  <a:schemeClr val="tx1"/>
                </a:solidFill>
                <a:ea typeface="+mn-lt"/>
                <a:cs typeface="+mn-lt"/>
              </a:rPr>
              <a:t> Localized power generation provides a stronger infrastructure layer, reducing complexity and increasing energy efficiency at the rack level.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tx1"/>
                </a:solidFill>
                <a:ea typeface="+mn-lt"/>
                <a:cs typeface="+mn-lt"/>
              </a:rPr>
              <a:t>Value Chain Expansion:</a:t>
            </a:r>
            <a:r>
              <a:rPr lang="en-US" sz="1700">
                <a:solidFill>
                  <a:schemeClr val="tx1"/>
                </a:solidFill>
                <a:ea typeface="+mn-lt"/>
                <a:cs typeface="+mn-lt"/>
              </a:rPr>
              <a:t> Moving closer to the end-user transforms power from a commodity into a strategic asset, securing long-term, high-margin contracts.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</p:txBody>
      </p:sp>
      <p:pic>
        <p:nvPicPr>
          <p:cNvPr id="10" name="Picture 2" descr="Constellation Energy Solutions, LLC ...">
            <a:extLst>
              <a:ext uri="{FF2B5EF4-FFF2-40B4-BE49-F238E27FC236}">
                <a16:creationId xmlns:a16="http://schemas.microsoft.com/office/drawing/2014/main" id="{8C0ED63D-66EE-2B6D-8BE3-49ADD8E36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9766" y="1262951"/>
            <a:ext cx="3712869" cy="1282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Data Center Power Infrastructure ...">
            <a:extLst>
              <a:ext uri="{FF2B5EF4-FFF2-40B4-BE49-F238E27FC236}">
                <a16:creationId xmlns:a16="http://schemas.microsoft.com/office/drawing/2014/main" id="{3228BCC0-4A90-EB25-C1E6-C31DCB40E3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27" r="2" b="2"/>
          <a:stretch>
            <a:fillRect/>
          </a:stretch>
        </p:blipFill>
        <p:spPr>
          <a:xfrm>
            <a:off x="7665410" y="3583062"/>
            <a:ext cx="3712869" cy="1828787"/>
          </a:xfrm>
          <a:prstGeom prst="rect">
            <a:avLst/>
          </a:prstGeom>
          <a:solidFill>
            <a:srgbClr val="FFFFFF">
              <a:shade val="85000"/>
            </a:srgbClr>
          </a:solidFill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A65989E-BBD5-44D7-AA86-7AFD5D46B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31A2881-D8D7-4A7D-ACA3-E9F849F85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DBDFC-89B4-D4FA-FF53-66F9212E1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BE6E7-49C8-E663-DF85-367FE081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/>
              <a:t>Strategic Dominance via the Nation's Largest Clean Energy Platform</a:t>
            </a:r>
          </a:p>
        </p:txBody>
      </p:sp>
      <p:sp>
        <p:nvSpPr>
          <p:cNvPr id="40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F33DEFF-7893-BE44-2133-7C2C726D3ED3}"/>
              </a:ext>
            </a:extLst>
          </p:cNvPr>
          <p:cNvSpPr/>
          <p:nvPr/>
        </p:nvSpPr>
        <p:spPr>
          <a:xfrm>
            <a:off x="640080" y="2706624"/>
            <a:ext cx="6894576" cy="348386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ea typeface="+mn-lt"/>
                <a:cs typeface="+mn-lt"/>
              </a:rPr>
              <a:t>Operational Alpha:</a:t>
            </a:r>
            <a:r>
              <a:rPr lang="en-US" sz="1900">
                <a:solidFill>
                  <a:schemeClr val="tx1"/>
                </a:solidFill>
                <a:ea typeface="+mn-lt"/>
                <a:cs typeface="+mn-lt"/>
              </a:rPr>
              <a:t> Proprietary expertise and a specialized workforce transform the U.S. nuclear fleet into a scalable, high-margin platform.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ea typeface="+mn-lt"/>
                <a:cs typeface="+mn-lt"/>
              </a:rPr>
              <a:t>Portfolio Synergy:</a:t>
            </a:r>
            <a:r>
              <a:rPr lang="en-US" sz="1900">
                <a:solidFill>
                  <a:schemeClr val="tx1"/>
                </a:solidFill>
                <a:ea typeface="+mn-lt"/>
                <a:cs typeface="+mn-lt"/>
              </a:rPr>
              <a:t> The Calpine acquisition isn't just about capacity; it’s about the strategic flexibility to stabilize the grid as renewable penetration increases.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chemeClr val="tx1"/>
                </a:solidFill>
                <a:ea typeface="+mn-lt"/>
                <a:cs typeface="+mn-lt"/>
              </a:rPr>
              <a:t>Resilient Cash Flows:</a:t>
            </a:r>
            <a:r>
              <a:rPr lang="en-US" sz="1900">
                <a:solidFill>
                  <a:schemeClr val="tx1"/>
                </a:solidFill>
                <a:ea typeface="+mn-lt"/>
                <a:cs typeface="+mn-lt"/>
              </a:rPr>
              <a:t> Diversified market exposure shields the bottom line from localized regulatory headwinds, ensuring consistent ROI.</a:t>
            </a:r>
            <a:endParaRPr lang="en-US">
              <a:solidFill>
                <a:schemeClr val="tx1"/>
              </a:solidFill>
              <a:ea typeface="+mn-lt"/>
              <a:cs typeface="+mn-lt"/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900">
              <a:solidFill>
                <a:schemeClr val="tx1"/>
              </a:solidFill>
            </a:endParaRPr>
          </a:p>
        </p:txBody>
      </p:sp>
      <p:pic>
        <p:nvPicPr>
          <p:cNvPr id="6" name="Picture 5" descr="Constellation Energy Careers Home Jobs page">
            <a:extLst>
              <a:ext uri="{FF2B5EF4-FFF2-40B4-BE49-F238E27FC236}">
                <a16:creationId xmlns:a16="http://schemas.microsoft.com/office/drawing/2014/main" id="{544CA12C-6350-B6F2-E5E2-87EC0C603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619121"/>
            <a:ext cx="4014216" cy="2850093"/>
          </a:xfrm>
          <a:prstGeom prst="rect">
            <a:avLst/>
          </a:prstGeom>
        </p:spPr>
      </p:pic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AAA096EB-752F-9DFD-2D3F-3D6BDCFB2D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80" b="-1"/>
          <a:stretch>
            <a:fillRect/>
          </a:stretch>
        </p:blipFill>
        <p:spPr bwMode="auto">
          <a:xfrm>
            <a:off x="7863840" y="4350478"/>
            <a:ext cx="3995928" cy="1633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3060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7FA69-B6BE-8010-04D5-94EFB0BE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91401DC-7AF6-42FA-BE31-CF773B6C8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80"/>
            <a:ext cx="12188952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ssistance Compliance Regulatory ...">
            <a:extLst>
              <a:ext uri="{FF2B5EF4-FFF2-40B4-BE49-F238E27FC236}">
                <a16:creationId xmlns:a16="http://schemas.microsoft.com/office/drawing/2014/main" id="{91D57095-4047-8CA6-A091-003889A11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650" y="346167"/>
            <a:ext cx="1473014" cy="1588946"/>
          </a:xfrm>
          <a:prstGeom prst="rect">
            <a:avLst/>
          </a:prstGeom>
        </p:spPr>
      </p:pic>
      <p:pic>
        <p:nvPicPr>
          <p:cNvPr id="5" name="Picture 4" descr="Infrastructure - Free business icons">
            <a:extLst>
              <a:ext uri="{FF2B5EF4-FFF2-40B4-BE49-F238E27FC236}">
                <a16:creationId xmlns:a16="http://schemas.microsoft.com/office/drawing/2014/main" id="{CC74D12C-E7FE-12E0-1097-87D8DA5E8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52" y="346167"/>
            <a:ext cx="1547944" cy="1547944"/>
          </a:xfrm>
          <a:prstGeom prst="rect">
            <a:avLst/>
          </a:prstGeom>
        </p:spPr>
      </p:pic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BE4D838B-6777-91E6-3E27-488EE3F4B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0636" y="511898"/>
            <a:ext cx="3520438" cy="1216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2,266 Hard Hat Man Profile Stock Vectors and Vector Art | Shutterstock">
            <a:extLst>
              <a:ext uri="{FF2B5EF4-FFF2-40B4-BE49-F238E27FC236}">
                <a16:creationId xmlns:a16="http://schemas.microsoft.com/office/drawing/2014/main" id="{7E940C21-BB73-DB67-CC3A-1CBD02F654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4437" y="2639045"/>
            <a:ext cx="1475438" cy="1588934"/>
          </a:xfrm>
          <a:prstGeom prst="rect">
            <a:avLst/>
          </a:prstGeom>
        </p:spPr>
      </p:pic>
      <p:pic>
        <p:nvPicPr>
          <p:cNvPr id="7" name="Picture 6" descr="Market - Free business icons">
            <a:extLst>
              <a:ext uri="{FF2B5EF4-FFF2-40B4-BE49-F238E27FC236}">
                <a16:creationId xmlns:a16="http://schemas.microsoft.com/office/drawing/2014/main" id="{C87A91B5-1B46-10FD-06DA-406178B0CC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9242" y="4930536"/>
            <a:ext cx="1582664" cy="1582664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B7203F0-D9CB-4774-B9D4-B3AB625DF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495" y="2300641"/>
            <a:ext cx="8124506" cy="45573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2F27DE-8529-4571-CAAD-657E1BE9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973" y="2635151"/>
            <a:ext cx="6868620" cy="1016898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Risks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88CB8AF-5631-45C6-BFEC-971C4D6E5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1218895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2EA1AF-73AB-4FCB-B4EE-0E42E725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8"/>
            <a:ext cx="4064320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5A18FBF-6157-4210-BEF2-9A6C31FA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C9CCA8-3CEC-4CD0-A624-A701C6125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95D22-0F44-C8F0-4073-6CF2D1FB3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8342" y="3709855"/>
            <a:ext cx="7342294" cy="29201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Regulatory:</a:t>
            </a: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 Navigating new FERC co-location fees and AI integration rules.</a:t>
            </a:r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Infrastructure:</a:t>
            </a: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 Upgrading PJM transmission lines to bypass grid congestion.</a:t>
            </a:r>
            <a:endParaRPr lang="en-US">
              <a:ea typeface="+mn-lt"/>
              <a:cs typeface="+mn-lt"/>
            </a:endParaRPr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Execution:</a:t>
            </a: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 Scaling 24/7 carbon-free power following the $22B Calpine merger.</a:t>
            </a:r>
            <a:endParaRPr lang="en-US">
              <a:ea typeface="+mn-lt"/>
              <a:cs typeface="+mn-lt"/>
            </a:endParaRPr>
          </a:p>
          <a:p>
            <a:r>
              <a:rPr lang="en-US" sz="2000" b="1">
                <a:solidFill>
                  <a:srgbClr val="FFFFFF"/>
                </a:solidFill>
                <a:ea typeface="+mn-lt"/>
                <a:cs typeface="+mn-lt"/>
              </a:rPr>
              <a:t>Market:</a:t>
            </a:r>
            <a:r>
              <a:rPr lang="en-US" sz="2000">
                <a:solidFill>
                  <a:srgbClr val="FFFFFF"/>
                </a:solidFill>
                <a:ea typeface="+mn-lt"/>
                <a:cs typeface="+mn-lt"/>
              </a:rPr>
              <a:t> Balancing IRA benefits against profit compression from low natural gas prices.</a:t>
            </a:r>
            <a:endParaRPr lang="en-US">
              <a:ea typeface="+mn-lt"/>
              <a:cs typeface="+mn-lt"/>
            </a:endParaRP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3151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F8B4-61B4-1BD2-531F-A0A26D73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309D-3A1C-2765-F982-18CDE5EE3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Comparable Analysis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EFF66A71-9383-8954-F5AC-146DB8FA3B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7279832"/>
              </p:ext>
            </p:extLst>
          </p:nvPr>
        </p:nvGraphicFramePr>
        <p:xfrm>
          <a:off x="302641" y="2283608"/>
          <a:ext cx="11586720" cy="2563962"/>
        </p:xfrm>
        <a:graphic>
          <a:graphicData uri="http://schemas.openxmlformats.org/drawingml/2006/table">
            <a:tbl>
              <a:tblPr/>
              <a:tblGrid>
                <a:gridCol w="2118538">
                  <a:extLst>
                    <a:ext uri="{9D8B030D-6E8A-4147-A177-3AD203B41FA5}">
                      <a16:colId xmlns:a16="http://schemas.microsoft.com/office/drawing/2014/main" val="1739036241"/>
                    </a:ext>
                  </a:extLst>
                </a:gridCol>
                <a:gridCol w="813641">
                  <a:extLst>
                    <a:ext uri="{9D8B030D-6E8A-4147-A177-3AD203B41FA5}">
                      <a16:colId xmlns:a16="http://schemas.microsoft.com/office/drawing/2014/main" val="1521433831"/>
                    </a:ext>
                  </a:extLst>
                </a:gridCol>
                <a:gridCol w="1646472">
                  <a:extLst>
                    <a:ext uri="{9D8B030D-6E8A-4147-A177-3AD203B41FA5}">
                      <a16:colId xmlns:a16="http://schemas.microsoft.com/office/drawing/2014/main" val="1145590367"/>
                    </a:ext>
                  </a:extLst>
                </a:gridCol>
                <a:gridCol w="1197436">
                  <a:extLst>
                    <a:ext uri="{9D8B030D-6E8A-4147-A177-3AD203B41FA5}">
                      <a16:colId xmlns:a16="http://schemas.microsoft.com/office/drawing/2014/main" val="2390963643"/>
                    </a:ext>
                  </a:extLst>
                </a:gridCol>
                <a:gridCol w="2195298">
                  <a:extLst>
                    <a:ext uri="{9D8B030D-6E8A-4147-A177-3AD203B41FA5}">
                      <a16:colId xmlns:a16="http://schemas.microsoft.com/office/drawing/2014/main" val="3553296431"/>
                    </a:ext>
                  </a:extLst>
                </a:gridCol>
                <a:gridCol w="771425">
                  <a:extLst>
                    <a:ext uri="{9D8B030D-6E8A-4147-A177-3AD203B41FA5}">
                      <a16:colId xmlns:a16="http://schemas.microsoft.com/office/drawing/2014/main" val="1174982463"/>
                    </a:ext>
                  </a:extLst>
                </a:gridCol>
                <a:gridCol w="1197436">
                  <a:extLst>
                    <a:ext uri="{9D8B030D-6E8A-4147-A177-3AD203B41FA5}">
                      <a16:colId xmlns:a16="http://schemas.microsoft.com/office/drawing/2014/main" val="3978387745"/>
                    </a:ext>
                  </a:extLst>
                </a:gridCol>
                <a:gridCol w="1093811">
                  <a:extLst>
                    <a:ext uri="{9D8B030D-6E8A-4147-A177-3AD203B41FA5}">
                      <a16:colId xmlns:a16="http://schemas.microsoft.com/office/drawing/2014/main" val="1348579553"/>
                    </a:ext>
                  </a:extLst>
                </a:gridCol>
                <a:gridCol w="552663">
                  <a:extLst>
                    <a:ext uri="{9D8B030D-6E8A-4147-A177-3AD203B41FA5}">
                      <a16:colId xmlns:a16="http://schemas.microsoft.com/office/drawing/2014/main" val="3374317754"/>
                    </a:ext>
                  </a:extLst>
                </a:gridCol>
              </a:tblGrid>
              <a:tr h="5271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Company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Price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Shares Out (M)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Market Cap (M)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 (M)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EBITDA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EV/EBITDA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EPS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P/E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942477"/>
                  </a:ext>
                </a:extLst>
              </a:tr>
              <a:tr h="3040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Constellation Energy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275.17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362.82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98,984.45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105660.00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6639.00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15.92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7.46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36.87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027655"/>
                  </a:ext>
                </a:extLst>
              </a:tr>
              <a:tr h="3040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Vistra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151.18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341.55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51,636.07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76958.98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4285.00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17.96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2.19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69.06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253140"/>
                  </a:ext>
                </a:extLst>
              </a:tr>
              <a:tr h="3040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NRG Energy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152.69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217.58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33,222.50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42645.15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3686.00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11.57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3.95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38.67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2968251"/>
                  </a:ext>
                </a:extLst>
              </a:tr>
              <a:tr h="5167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Public Service Enterprise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81.82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499.56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40,873.74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64259.00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4550.00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14.12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4.22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19.4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27729"/>
                  </a:ext>
                </a:extLst>
              </a:tr>
              <a:tr h="3040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Exelon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49.33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1023.74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50,501.04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103157.00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8787.00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11.74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2.73 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18.04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824130"/>
                  </a:ext>
                </a:extLst>
              </a:tr>
              <a:tr h="3040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142.04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489.05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55043.56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78536.03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5589.40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14.26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4.11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36.41</a:t>
                      </a:r>
                    </a:p>
                  </a:txBody>
                  <a:tcPr marL="11526" marR="11526" marT="13947" marB="66938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411343"/>
                  </a:ext>
                </a:extLst>
              </a:tr>
            </a:tbl>
          </a:graphicData>
        </a:graphic>
      </p:graphicFrame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279D3089-09EA-7579-4D5A-315B0A7F8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534" y="0"/>
            <a:ext cx="3072466" cy="106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472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57A8A-F99B-3277-8875-1834BE31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5D907-6C65-AEDC-8604-CE17837B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Valuation			</a:t>
            </a:r>
          </a:p>
        </p:txBody>
      </p:sp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7BE7FDD0-CA3C-DD82-0602-C8DDDD9902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534" y="0"/>
            <a:ext cx="3072466" cy="106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19C12DD-8828-5A25-1DD2-714257E84EB7}"/>
              </a:ext>
            </a:extLst>
          </p:cNvPr>
          <p:cNvSpPr txBox="1"/>
          <p:nvPr/>
        </p:nvSpPr>
        <p:spPr>
          <a:xfrm>
            <a:off x="1364605" y="1690688"/>
            <a:ext cx="10157791" cy="20928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u="sng">
                <a:solidFill>
                  <a:srgbClr val="FF0000"/>
                </a:solidFill>
                <a:latin typeface="Aptos (Body)"/>
              </a:rPr>
              <a:t>Bear: </a:t>
            </a:r>
            <a:r>
              <a:rPr lang="en-US" sz="2000">
                <a:solidFill>
                  <a:srgbClr val="FF0000"/>
                </a:solidFill>
                <a:ea typeface="+mn-lt"/>
                <a:cs typeface="+mn-lt"/>
              </a:rPr>
              <a:t>Changing regulations may lead to uncertainty, higher costs, and potential delays.</a:t>
            </a:r>
            <a:endParaRPr lang="en-US" sz="2000" u="sng">
              <a:solidFill>
                <a:srgbClr val="FF0000"/>
              </a:solidFill>
            </a:endParaRPr>
          </a:p>
          <a:p>
            <a:endParaRPr lang="en-US" sz="2600" u="sng">
              <a:latin typeface="Aptos (Body)"/>
            </a:endParaRPr>
          </a:p>
          <a:p>
            <a:r>
              <a:rPr lang="en-US" sz="2600" u="sng">
                <a:latin typeface="Aptos (Body)"/>
              </a:rPr>
              <a:t>Base:</a:t>
            </a:r>
            <a:r>
              <a:rPr lang="en-US" sz="2600">
                <a:latin typeface="Aptos (Body)"/>
              </a:rPr>
              <a:t> </a:t>
            </a:r>
            <a:r>
              <a:rPr lang="en-US" sz="2000">
                <a:latin typeface="Aptos (Body)"/>
              </a:rPr>
              <a:t>Revenue continues to grow with market expectations, with stable profitability.</a:t>
            </a:r>
          </a:p>
          <a:p>
            <a:endParaRPr lang="en-US" sz="2600" u="sng">
              <a:latin typeface="Aptos (Body)"/>
            </a:endParaRPr>
          </a:p>
          <a:p>
            <a:r>
              <a:rPr lang="en-US" sz="2600" u="sng">
                <a:solidFill>
                  <a:schemeClr val="accent6"/>
                </a:solidFill>
                <a:latin typeface="Aptos (Body)"/>
              </a:rPr>
              <a:t>Bull:</a:t>
            </a:r>
            <a:r>
              <a:rPr lang="en-US" sz="2600">
                <a:solidFill>
                  <a:schemeClr val="accent6"/>
                </a:solidFill>
                <a:latin typeface="Aptos (Body)"/>
              </a:rPr>
              <a:t> </a:t>
            </a:r>
            <a:r>
              <a:rPr lang="en-US" sz="2000">
                <a:solidFill>
                  <a:schemeClr val="accent6"/>
                </a:solidFill>
                <a:latin typeface="Aptos (Body)"/>
              </a:rPr>
              <a:t>CEG continues to capitalize on the AI driven power super cycle.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73CB379-1608-D144-9636-9738D9EF4C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5882665"/>
              </p:ext>
            </p:extLst>
          </p:nvPr>
        </p:nvGraphicFramePr>
        <p:xfrm>
          <a:off x="1286936" y="4309532"/>
          <a:ext cx="9347203" cy="1779560"/>
        </p:xfrm>
        <a:graphic>
          <a:graphicData uri="http://schemas.openxmlformats.org/drawingml/2006/table">
            <a:tbl>
              <a:tblPr/>
              <a:tblGrid>
                <a:gridCol w="1557867">
                  <a:extLst>
                    <a:ext uri="{9D8B030D-6E8A-4147-A177-3AD203B41FA5}">
                      <a16:colId xmlns:a16="http://schemas.microsoft.com/office/drawing/2014/main" val="2062917806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838247248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894143535"/>
                    </a:ext>
                  </a:extLst>
                </a:gridCol>
                <a:gridCol w="2508431">
                  <a:extLst>
                    <a:ext uri="{9D8B030D-6E8A-4147-A177-3AD203B41FA5}">
                      <a16:colId xmlns:a16="http://schemas.microsoft.com/office/drawing/2014/main" val="3158455091"/>
                    </a:ext>
                  </a:extLst>
                </a:gridCol>
                <a:gridCol w="2165171">
                  <a:extLst>
                    <a:ext uri="{9D8B030D-6E8A-4147-A177-3AD203B41FA5}">
                      <a16:colId xmlns:a16="http://schemas.microsoft.com/office/drawing/2014/main" val="3493072677"/>
                    </a:ext>
                  </a:extLst>
                </a:gridCol>
              </a:tblGrid>
              <a:tr h="4448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Scenario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EV/EBITDA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Implied EV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Implied Share Price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Implied Return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2812"/>
                  </a:ext>
                </a:extLst>
              </a:tr>
              <a:tr h="4448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Bear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10.00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94950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223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-19%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261353"/>
                  </a:ext>
                </a:extLst>
              </a:tr>
              <a:tr h="4448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Base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11.97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113655.15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292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389647"/>
                  </a:ext>
                </a:extLst>
              </a:tr>
              <a:tr h="44489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548235"/>
                          </a:solidFill>
                          <a:effectLst/>
                          <a:latin typeface="Arial" panose="020B0604020202020204" pitchFamily="34" charset="0"/>
                        </a:rPr>
                        <a:t>Bull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142425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372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35%</a:t>
                      </a:r>
                    </a:p>
                  </a:txBody>
                  <a:tcPr marL="7620" marR="7620" marT="762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162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3815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01E07-FD4E-65AE-B9D9-049FFACE8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121DF-3808-BE2E-0D07-7767474F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200" y="77125"/>
            <a:ext cx="10515600" cy="1325563"/>
          </a:xfrm>
        </p:spPr>
        <p:txBody>
          <a:bodyPr/>
          <a:lstStyle/>
          <a:p>
            <a:r>
              <a:rPr lang="en-US"/>
              <a:t>Porter 5 forces</a:t>
            </a:r>
          </a:p>
        </p:txBody>
      </p:sp>
      <p:pic>
        <p:nvPicPr>
          <p:cNvPr id="4" name="Picture 2" descr="Constellation Energy Solutions, LLC ...">
            <a:extLst>
              <a:ext uri="{FF2B5EF4-FFF2-40B4-BE49-F238E27FC236}">
                <a16:creationId xmlns:a16="http://schemas.microsoft.com/office/drawing/2014/main" id="{CB5CC5AF-3B15-C674-3508-3D4ABB4FD7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5534" y="48000"/>
            <a:ext cx="3072466" cy="106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D6266D7-5C9C-6EF1-34FF-C2428BE93966}"/>
              </a:ext>
            </a:extLst>
          </p:cNvPr>
          <p:cNvSpPr/>
          <p:nvPr/>
        </p:nvSpPr>
        <p:spPr>
          <a:xfrm>
            <a:off x="139155" y="1204413"/>
            <a:ext cx="3791573" cy="18255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A4C5AA-FF7F-36CB-A29F-F1A92067A5F5}"/>
              </a:ext>
            </a:extLst>
          </p:cNvPr>
          <p:cNvSpPr/>
          <p:nvPr/>
        </p:nvSpPr>
        <p:spPr>
          <a:xfrm>
            <a:off x="129924" y="1117441"/>
            <a:ext cx="3815020" cy="37066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A494D34-01DA-B6E3-6BDC-E52EF30F8922}"/>
              </a:ext>
            </a:extLst>
          </p:cNvPr>
          <p:cNvSpPr/>
          <p:nvPr/>
        </p:nvSpPr>
        <p:spPr>
          <a:xfrm>
            <a:off x="136332" y="4528557"/>
            <a:ext cx="3830370" cy="21874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51FA370-AF92-CC24-66AD-A9C11CBAE512}"/>
              </a:ext>
            </a:extLst>
          </p:cNvPr>
          <p:cNvSpPr/>
          <p:nvPr/>
        </p:nvSpPr>
        <p:spPr>
          <a:xfrm>
            <a:off x="130359" y="4504107"/>
            <a:ext cx="3861911" cy="46444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852D36E-CFA9-2B17-3F97-CE552E0B936D}"/>
              </a:ext>
            </a:extLst>
          </p:cNvPr>
          <p:cNvSpPr/>
          <p:nvPr/>
        </p:nvSpPr>
        <p:spPr>
          <a:xfrm>
            <a:off x="8147731" y="1100724"/>
            <a:ext cx="3975886" cy="22873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991F797-5691-8A11-4D84-B566A0CB0874}"/>
              </a:ext>
            </a:extLst>
          </p:cNvPr>
          <p:cNvSpPr/>
          <p:nvPr/>
        </p:nvSpPr>
        <p:spPr>
          <a:xfrm>
            <a:off x="8153480" y="1037848"/>
            <a:ext cx="3960162" cy="377736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B2E5AC18-653A-A97E-84CC-17CF3D34B488}"/>
              </a:ext>
            </a:extLst>
          </p:cNvPr>
          <p:cNvSpPr/>
          <p:nvPr/>
        </p:nvSpPr>
        <p:spPr>
          <a:xfrm>
            <a:off x="8234391" y="4360693"/>
            <a:ext cx="3971451" cy="24655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5C479BD-96A2-91A6-AAAA-0600485239AE}"/>
              </a:ext>
            </a:extLst>
          </p:cNvPr>
          <p:cNvSpPr/>
          <p:nvPr/>
        </p:nvSpPr>
        <p:spPr>
          <a:xfrm>
            <a:off x="8233489" y="4359853"/>
            <a:ext cx="4018622" cy="477318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9A085CD-9DFE-3DCF-3FB4-76B5CD003CEF}"/>
              </a:ext>
            </a:extLst>
          </p:cNvPr>
          <p:cNvSpPr/>
          <p:nvPr/>
        </p:nvSpPr>
        <p:spPr>
          <a:xfrm>
            <a:off x="4150143" y="2983634"/>
            <a:ext cx="3850188" cy="2259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D756C62-BB4C-28CF-404B-198DC5612570}"/>
              </a:ext>
            </a:extLst>
          </p:cNvPr>
          <p:cNvSpPr/>
          <p:nvPr/>
        </p:nvSpPr>
        <p:spPr>
          <a:xfrm>
            <a:off x="4159149" y="2947461"/>
            <a:ext cx="3861911" cy="487894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4EA51C-29F6-12D2-ADB7-782E0B621918}"/>
              </a:ext>
            </a:extLst>
          </p:cNvPr>
          <p:cNvSpPr txBox="1"/>
          <p:nvPr/>
        </p:nvSpPr>
        <p:spPr>
          <a:xfrm>
            <a:off x="634622" y="1158533"/>
            <a:ext cx="3312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Threat of New Entrants: Low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BB112E-6DB3-C5FA-85AA-0910722216A6}"/>
              </a:ext>
            </a:extLst>
          </p:cNvPr>
          <p:cNvSpPr txBox="1"/>
          <p:nvPr/>
        </p:nvSpPr>
        <p:spPr>
          <a:xfrm>
            <a:off x="4439999" y="3006000"/>
            <a:ext cx="3312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Supplier Bargaining Power: Low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F8C715-E362-0CCA-3EDD-19AB5BF6C4DD}"/>
              </a:ext>
            </a:extLst>
          </p:cNvPr>
          <p:cNvSpPr txBox="1"/>
          <p:nvPr/>
        </p:nvSpPr>
        <p:spPr>
          <a:xfrm>
            <a:off x="623333" y="4539200"/>
            <a:ext cx="3312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Competitive Rivalry: Moderate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892DD75-1DA1-A781-CAF4-A76995F35449}"/>
              </a:ext>
            </a:extLst>
          </p:cNvPr>
          <p:cNvSpPr txBox="1"/>
          <p:nvPr/>
        </p:nvSpPr>
        <p:spPr>
          <a:xfrm>
            <a:off x="8305377" y="1087644"/>
            <a:ext cx="3312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Buyer Bargaining Power: Moderate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DC7CCCE-02D8-EDF0-A65A-7A3541D73171}"/>
              </a:ext>
            </a:extLst>
          </p:cNvPr>
          <p:cNvSpPr txBox="1"/>
          <p:nvPr/>
        </p:nvSpPr>
        <p:spPr>
          <a:xfrm>
            <a:off x="8515247" y="4451585"/>
            <a:ext cx="385748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Threat of New Substitutes: 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21B76-6391-3A2D-AB07-6E6CB0A9F1BB}"/>
              </a:ext>
            </a:extLst>
          </p:cNvPr>
          <p:cNvSpPr txBox="1"/>
          <p:nvPr/>
        </p:nvSpPr>
        <p:spPr>
          <a:xfrm>
            <a:off x="135404" y="1501950"/>
            <a:ext cx="3881358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Nuclear plants cost billions of dollars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Takes 10-15 years to build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Regulatory approval near impossible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04E0F-07AE-95FF-184C-2691310ADE13}"/>
              </a:ext>
            </a:extLst>
          </p:cNvPr>
          <p:cNvSpPr txBox="1"/>
          <p:nvPr/>
        </p:nvSpPr>
        <p:spPr>
          <a:xfrm>
            <a:off x="147560" y="4970678"/>
            <a:ext cx="38813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Few nuclear competitors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Competing with gas/renewables for wholesale market share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Only a few companies competing to provide 24/7 carbon-free power for AI data centers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63AB53-256B-1B72-B415-07243920B695}"/>
              </a:ext>
            </a:extLst>
          </p:cNvPr>
          <p:cNvSpPr txBox="1"/>
          <p:nvPr/>
        </p:nvSpPr>
        <p:spPr>
          <a:xfrm>
            <a:off x="4148199" y="3486809"/>
            <a:ext cx="388135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Uranium is globally available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Long term contracts with suppliers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Multiple fuel fabricators, and  suppliers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CBB809-35F2-170F-ED20-3E231255ABEC}"/>
              </a:ext>
            </a:extLst>
          </p:cNvPr>
          <p:cNvSpPr txBox="1"/>
          <p:nvPr/>
        </p:nvSpPr>
        <p:spPr>
          <a:xfrm>
            <a:off x="8147691" y="1493513"/>
            <a:ext cx="394344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Utilities have many power generation options to choose from.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Very few alternatives for 24/7 carbon-free power for big tech companies.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Long term PPA's with companies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5D63AB53-256B-1B72-B415-07243920B695}"/>
              </a:ext>
            </a:extLst>
          </p:cNvPr>
          <p:cNvSpPr txBox="1"/>
          <p:nvPr/>
        </p:nvSpPr>
        <p:spPr>
          <a:xfrm>
            <a:off x="8239553" y="4900959"/>
            <a:ext cx="3787574" cy="210166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Solar/wind energy is cheaper but less consistent.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/>
                </a:solidFill>
              </a:rPr>
              <a:t>Natural gas is more expensive long term, but cheaper to build</a:t>
            </a:r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  <a:p>
            <a:pPr marL="285750" indent="-285750">
              <a:buFont typeface="Calibri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3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1047</Words>
  <Application>Microsoft Office PowerPoint</Application>
  <PresentationFormat>Widescreen</PresentationFormat>
  <Paragraphs>213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(Body)</vt:lpstr>
      <vt:lpstr>Aptos Display</vt:lpstr>
      <vt:lpstr>Arial</vt:lpstr>
      <vt:lpstr>Arial,Sans-Serif</vt:lpstr>
      <vt:lpstr>Calibri</vt:lpstr>
      <vt:lpstr>Office Theme</vt:lpstr>
      <vt:lpstr> Constellation Energy Corp(Ticker: CEG) </vt:lpstr>
      <vt:lpstr>Recommendation: BUY</vt:lpstr>
      <vt:lpstr>Industry Overview</vt:lpstr>
      <vt:lpstr>Business Overview</vt:lpstr>
      <vt:lpstr>Annotated stock chart</vt:lpstr>
      <vt:lpstr>PowerPoint Presentation</vt:lpstr>
      <vt:lpstr>Bypassing the Grid via Grid-Independent Solutions</vt:lpstr>
      <vt:lpstr>Strategic Dominance via the Nation's Largest Clean Energy Platform</vt:lpstr>
      <vt:lpstr>Risks</vt:lpstr>
      <vt:lpstr>Comparable Analysis</vt:lpstr>
      <vt:lpstr>Valuation   </vt:lpstr>
      <vt:lpstr>Porter 5 forces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Karnvir Rajasansi</dc:creator>
  <cp:lastModifiedBy>Karnvir Rajasansi</cp:lastModifiedBy>
  <cp:revision>1</cp:revision>
  <dcterms:created xsi:type="dcterms:W3CDTF">2026-04-04T20:44:54Z</dcterms:created>
  <dcterms:modified xsi:type="dcterms:W3CDTF">2026-04-15T19:21:33Z</dcterms:modified>
</cp:coreProperties>
</file>